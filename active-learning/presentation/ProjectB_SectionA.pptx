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Positives bought</c:v>
                </c:pt>
              </c:strCache>
            </c:strRef>
          </c:tx>
          <c:spPr>
            <a:solidFill>
              <a:srgbClr val="E3A14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B24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3A14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61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A4A0B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Random</c:v>
                  </c:pt>
                  <c:pt idx="1">
                    <c:v>Uncertainty</c:v>
                  </c:pt>
                  <c:pt idx="2">
                    <c:v>Hunting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1652</c:v>
                </c:pt>
                <c:pt idx="1">
                  <c:v>2408</c:v>
                </c:pt>
                <c:pt idx="2">
                  <c:v>3140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1B24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A55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0"/>
        </c:scaling>
        <c:delete val="0"/>
        <c:axPos val="l"/>
        <c:majorGridlines>
          <c:spPr>
            <a:ln w="12700" cap="flat">
              <a:solidFill>
                <a:srgbClr val="E2E6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C879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F1</c:v>
                </c:pt>
              </c:strCache>
            </c:strRef>
          </c:tx>
          <c:spPr>
            <a:solidFill>
              <a:srgbClr val="E3A140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B24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3A14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61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A4A0B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Random</c:v>
                  </c:pt>
                  <c:pt idx="1">
                    <c:v>Uncertainty</c:v>
                  </c:pt>
                  <c:pt idx="2">
                    <c:v>Hunting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0.6124</c:v>
                </c:pt>
                <c:pt idx="1">
                  <c:v>0.6316</c:v>
                </c:pt>
                <c:pt idx="2">
                  <c:v>0.6471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1" i="0" strike="noStrike" sz="1400" u="none">
                  <a:solidFill>
                    <a:srgbClr val="1B24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A55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6"/>
          <c:min val="0.58"/>
        </c:scaling>
        <c:delete val="0"/>
        <c:axPos val="l"/>
        <c:majorGridlines>
          <c:spPr>
            <a:ln w="12700" cap="flat">
              <a:solidFill>
                <a:srgbClr val="E2E6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C879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Batch precision</c:v>
                </c:pt>
              </c:strCache>
            </c:strRef>
          </c:tx>
          <c:spPr>
            <a:solidFill>
              <a:srgbClr val="B45309"/>
            </a:solidFill>
            <a:ln w="3810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B2436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10"/>
            <c:spPr>
              <a:solidFill>
                <a:srgbClr val="B45309"/>
              </a:solidFill>
              <a:ln w="2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Round 1</c:v>
                  </c:pt>
                  <c:pt idx="1">
                    <c:v>Round 2</c:v>
                  </c:pt>
                  <c:pt idx="2">
                    <c:v>Round 3</c:v>
                  </c:pt>
                  <c:pt idx="3">
                    <c:v>Round 4</c:v>
                  </c:pt>
                  <c:pt idx="4">
                    <c:v>Round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79.5</c:v>
                </c:pt>
                <c:pt idx="1">
                  <c:v>78.2</c:v>
                </c:pt>
                <c:pt idx="2">
                  <c:v>60.8</c:v>
                </c:pt>
                <c:pt idx="3">
                  <c:v>51.2</c:v>
                </c:pt>
                <c:pt idx="4">
                  <c:v>44.3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1B2436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Pool base rate (33%)</c:v>
                </c:pt>
              </c:strCache>
            </c:strRef>
          </c:tx>
          <c:spPr>
            <a:solidFill>
              <a:srgbClr val="7C8797"/>
            </a:solidFill>
            <a:ln w="25400" cap="flat">
              <a:solidFill>
                <a:srgbClr val="7C879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B2436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C8797"/>
              </a:solidFill>
              <a:ln w="9525" cap="flat">
                <a:solidFill>
                  <a:srgbClr val="7C879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Round 1</c:v>
                  </c:pt>
                  <c:pt idx="1">
                    <c:v>Round 2</c:v>
                  </c:pt>
                  <c:pt idx="2">
                    <c:v>Round 3</c:v>
                  </c:pt>
                  <c:pt idx="3">
                    <c:v>Round 4</c:v>
                  </c:pt>
                  <c:pt idx="4">
                    <c:v>Round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</c:v>
                </c:pt>
                <c:pt idx="1">
                  <c:v>33</c:v>
                </c:pt>
                <c:pt idx="2">
                  <c:v>33</c:v>
                </c:pt>
                <c:pt idx="3">
                  <c:v>33</c:v>
                </c:pt>
                <c:pt idx="4">
                  <c:v>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1B2436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A55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25"/>
        </c:scaling>
        <c:delete val="0"/>
        <c:axPos val="l"/>
        <c:majorGridlines>
          <c:spPr>
            <a:ln w="12700" cap="flat">
              <a:solidFill>
                <a:srgbClr val="E2E6EC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C879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4A55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F1</c:v>
                </c:pt>
              </c:strCache>
            </c:strRef>
          </c:tx>
          <c:spPr>
            <a:solidFill>
              <a:srgbClr val="B45309"/>
            </a:solidFill>
            <a:ln w="3810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B2436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10"/>
            <c:spPr>
              <a:solidFill>
                <a:srgbClr val="B45309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1x</c:v>
                  </c:pt>
                  <c:pt idx="1">
                    <c:v>1.25x</c:v>
                  </c:pt>
                  <c:pt idx="2">
                    <c:v>1.5x</c:v>
                  </c:pt>
                  <c:pt idx="3">
                    <c:v>1.75x</c:v>
                  </c:pt>
                  <c:pt idx="4">
                    <c:v>2x</c:v>
                  </c:pt>
                  <c:pt idx="5">
                    <c:v>2.25x</c:v>
                  </c:pt>
                  <c:pt idx="6">
                    <c:v>2.5x</c:v>
                  </c:pt>
                  <c:pt idx="7">
                    <c:v>3x</c:v>
                  </c:pt>
                  <c:pt idx="8">
                    <c:v>4x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0.6293</c:v>
                </c:pt>
                <c:pt idx="1">
                  <c:v>0.6372</c:v>
                </c:pt>
                <c:pt idx="2">
                  <c:v>0.6359</c:v>
                </c:pt>
                <c:pt idx="3">
                  <c:v>0.6388</c:v>
                </c:pt>
                <c:pt idx="4">
                  <c:v>0.6471</c:v>
                </c:pt>
                <c:pt idx="5">
                  <c:v>0.641</c:v>
                </c:pt>
                <c:pt idx="6">
                  <c:v>0.6411</c:v>
                </c:pt>
                <c:pt idx="7">
                  <c:v>0.6465</c:v>
                </c:pt>
                <c:pt idx="8">
                  <c:v>0.6424</c:v>
                </c:pt>
              </c:numCache>
            </c:numRef>
          </c:val>
          <c:smooth val="0"/>
        </c:ser>
        <c:dLbls>
          <c:numFmt formatCode="0.0000" sourceLinked="0"/>
          <c:txPr>
            <a:bodyPr/>
            <a:lstStyle/>
            <a:p>
              <a:pPr>
                <a:defRPr b="1" i="0" strike="noStrike" sz="1400" u="none">
                  <a:solidFill>
                    <a:srgbClr val="1B2436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A55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5"/>
          <c:min val="0.625"/>
        </c:scaling>
        <c:delete val="0"/>
        <c:axPos val="l"/>
        <c:majorGridlines>
          <c:spPr>
            <a:ln w="12700" cap="flat">
              <a:solidFill>
                <a:srgbClr val="E2E6EC"/>
              </a:solidFill>
              <a:prstDash val="solid"/>
              <a:round/>
            </a:ln>
          </c:spPr>
        </c:majorGridlines>
        <c:numFmt formatCode="0.0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C879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00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Delta vs our 0.6471</c:v>
                </c:pt>
              </c:strCache>
            </c:strRef>
          </c:tx>
          <c:spPr>
            <a:solidFill>
              <a:srgbClr val="B45309"/>
            </a:solidFill>
            <a:effectLst/>
          </c:spPr>
          <c:invertIfNegative val="0"/>
          <c:dLbls>
            <c:numFmt formatCode="+0.0000;-0.000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B24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4530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C879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C879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C879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7C87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7C8797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7C8797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7C8797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7C8797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Tiered oversampling</c:v>
                  </c:pt>
                  <c:pt idx="1">
                    <c:v>Graded batches</c:v>
                  </c:pt>
                  <c:pt idx="2">
                    <c:v>Hard-negative upweight</c:v>
                  </c:pt>
                  <c:pt idx="3">
                    <c:v>10 x 500 rounds</c:v>
                  </c:pt>
                  <c:pt idx="4">
                    <c:v>Balanced scout</c:v>
                  </c:pt>
                  <c:pt idx="5">
                    <c:v>KMeans diversity</c:v>
                  </c:pt>
                  <c:pt idx="6">
                    <c:v>Cluster exploration</c:v>
                  </c:pt>
                  <c:pt idx="7">
                    <c:v>Uncertainty sampling</c:v>
                  </c:pt>
                  <c:pt idx="8">
                    <c:v>Random acquisition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0.001</c:v>
                </c:pt>
                <c:pt idx="1">
                  <c:v>-0.0027</c:v>
                </c:pt>
                <c:pt idx="2">
                  <c:v>-0.0037</c:v>
                </c:pt>
                <c:pt idx="3">
                  <c:v>-0.0072</c:v>
                </c:pt>
                <c:pt idx="4">
                  <c:v>-0.0091</c:v>
                </c:pt>
                <c:pt idx="5">
                  <c:v>-0.0096</c:v>
                </c:pt>
                <c:pt idx="6">
                  <c:v>-0.0126</c:v>
                </c:pt>
                <c:pt idx="7">
                  <c:v>-0.0155</c:v>
                </c:pt>
                <c:pt idx="8">
                  <c:v>-0.0347</c:v>
                </c:pt>
              </c:numCache>
            </c:numRef>
          </c:val>
        </c:ser>
        <c:dLbls>
          <c:numFmt formatCode="+0.0000;-0.0000" sourceLinked="0"/>
          <c:txPr>
            <a:bodyPr/>
            <a:lstStyle/>
            <a:p>
              <a:pPr>
                <a:defRPr b="1" i="0" strike="noStrike" sz="1400" u="none">
                  <a:solidFill>
                    <a:srgbClr val="1B24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A55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05"/>
          <c:min val="-0.04"/>
        </c:scaling>
        <c:delete val="0"/>
        <c:axPos val="b"/>
        <c:majorGridlines>
          <c:spPr>
            <a:ln w="12700" cap="flat">
              <a:solidFill>
                <a:srgbClr val="E2E6EC"/>
              </a:solidFill>
              <a:prstDash val="solid"/>
              <a:round/>
            </a:ln>
          </c:spPr>
        </c:majorGridlines>
        <c:numFmt formatCode="0.00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C879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0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Fourteen thousand nine hundred unlabeled employees. Five hundred free labels, five thousand we can buy, and a Random Forest we're not allowed to change. Two facts decided everything: only the positive class scores, and the half threshold is frozen.  [~15s]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we asked what a label is worth. Random sampling buys sixteen-fifty positives — the base rate. Textbook uncertainty sampling buys twenty-four hundred. Just asking for the most-likely positives buys thirty-one-forty, and wins by point-oh-one-five F1. When the metric is minority-class F1, refining the boundary is the wrong instinct.  [~20s]   Handoff: “Lior — so when do we spend it?”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five rounds, not one. Retraining the scout between rounds buys two hundred forty extra positives for free. But look at the decay — eighty percent yield in round one, forty-four by round five, closing on the thirty-three percent base rate. We're running out of vein.  [~18s]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the threshold. It's frozen, so we move the data instead: duplicate every positive once. That's plus point-oh-one-eight — our biggest win. But be careful. Two-x and three-x differ by point-oh-six percent, well inside our noise floor. So we claim duplication matters — not that two is magic.  [~20s]   Handoff: “Raz, what didn't work?”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Thirty-two configurations. We pre-declared a plus-point-oh-oh-five bar — our measured noise — and nothing cleared it. Our best candidate gained point-oh-oh-one and hurt seed one, so we rejected it. Query-by-committee turned out identical to probability: a forest already is a committee.  [~17s]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Point-six-four-seven-one mean F1, every seed inside thirty-five seconds. The lesson: read the metric before you write the algorithm. It quietly rewrote the whole problem.  [~10s]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04704" y="457200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E3A140"/>
          </a:solidFill>
          <a:ln/>
        </p:spPr>
      </p:sp>
      <p:sp>
        <p:nvSpPr>
          <p:cNvPr id="3" name="Text 1"/>
          <p:cNvSpPr/>
          <p:nvPr/>
        </p:nvSpPr>
        <p:spPr>
          <a:xfrm>
            <a:off x="10204704" y="457200"/>
            <a:ext cx="950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1228832" y="4572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E9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457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60" kern="0" dirty="0">
                <a:solidFill>
                  <a:srgbClr val="E3A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  ·  Section 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105156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Buy 5,000 labels.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Maximise F1 on “Left”.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658368" y="2962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E9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Unlabeled pool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163824" y="2962656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14,900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3438144"/>
            <a:ext cx="5394960" cy="0"/>
          </a:xfrm>
          <a:prstGeom prst="line">
            <a:avLst/>
          </a:prstGeom>
          <a:noFill/>
          <a:ln w="9525">
            <a:solidFill>
              <a:srgbClr val="2C3A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351129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E9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labels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163824" y="3511296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58368" y="3986784"/>
            <a:ext cx="5394960" cy="0"/>
          </a:xfrm>
          <a:prstGeom prst="line">
            <a:avLst/>
          </a:prstGeom>
          <a:noFill/>
          <a:ln w="9525">
            <a:solidFill>
              <a:srgbClr val="2C3A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05993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E9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budget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63824" y="4059936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58368" y="4535424"/>
            <a:ext cx="5394960" cy="0"/>
          </a:xfrm>
          <a:prstGeom prst="line">
            <a:avLst/>
          </a:prstGeom>
          <a:noFill/>
          <a:ln w="9525">
            <a:solidFill>
              <a:srgbClr val="2C3A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460857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E9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163824" y="4608576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RandomForest — fixed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58368" y="5084064"/>
            <a:ext cx="5394960" cy="0"/>
          </a:xfrm>
          <a:prstGeom prst="line">
            <a:avLst/>
          </a:prstGeom>
          <a:noFill/>
          <a:ln w="9525">
            <a:solidFill>
              <a:srgbClr val="2C3A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515721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E9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163824" y="5157216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(“Left”) @ 0.5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58368" y="5632704"/>
            <a:ext cx="5394960" cy="0"/>
          </a:xfrm>
          <a:prstGeom prst="line">
            <a:avLst/>
          </a:prstGeom>
          <a:noFill/>
          <a:ln w="9525">
            <a:solidFill>
              <a:srgbClr val="2C3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37960" y="1051560"/>
            <a:ext cx="4992624" cy="4937760"/>
          </a:xfrm>
          <a:prstGeom prst="roundRect">
            <a:avLst>
              <a:gd name="adj" fmla="val 926"/>
            </a:avLst>
          </a:prstGeom>
          <a:solidFill>
            <a:srgbClr val="22304F"/>
          </a:solidFill>
          <a:ln/>
        </p:spPr>
      </p:sp>
      <p:sp>
        <p:nvSpPr>
          <p:cNvPr id="23" name="Text 21"/>
          <p:cNvSpPr/>
          <p:nvPr/>
        </p:nvSpPr>
        <p:spPr>
          <a:xfrm>
            <a:off x="6876288" y="13716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10" kern="0" dirty="0">
                <a:solidFill>
                  <a:srgbClr val="E3A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METRIC DICTATES THE STRATEGY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76288" y="18836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positive class scores.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876288" y="228600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3C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negatives add nothing to F1.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876288" y="30358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0.5 threshold is frozen.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876288" y="3438144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C3C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grader calls predict(). The only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C3C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 left is what we train on.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876288" y="4370832"/>
            <a:ext cx="4389120" cy="0"/>
          </a:xfrm>
          <a:prstGeom prst="line">
            <a:avLst/>
          </a:prstGeom>
          <a:noFill/>
          <a:ln w="12700">
            <a:solidFill>
              <a:srgbClr val="2C3A5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76288" y="4572000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E3A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 hunt positives,</a:t>
            </a:r>
            <a:endParaRPr lang="en-US" sz="2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E3A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reweight.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6876288" y="550468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9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 Ben Aharon  ·  Lior Malachi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04704" y="457200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10204704" y="457200"/>
            <a:ext cx="950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1228832" y="4572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640080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B24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Hunt positives, don’t refine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58368" y="1481328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5,000-query budget. Three acquisition rules.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58368" y="197510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positives bought</a:t>
            </a:r>
            <a:endParaRPr lang="en-US" sz="16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286000"/>
          <a:ext cx="5394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658368" y="53949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  33.0%  ·  48.2%  ·  62.8%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227064" y="197510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Resulting mean F1 (“Left”)</a:t>
            </a:r>
            <a:endParaRPr lang="en-US" sz="1600" dirty="0"/>
          </a:p>
        </p:txBody>
      </p:sp>
      <p:graphicFrame>
        <p:nvGraphicFramePr>
          <p:cNvPr id="11" name="Chart 1" descr=""/>
          <p:cNvGraphicFramePr/>
          <p:nvPr/>
        </p:nvGraphicFramePr>
        <p:xfrm>
          <a:off x="6126480" y="2286000"/>
          <a:ext cx="5394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8"/>
          <p:cNvSpPr/>
          <p:nvPr/>
        </p:nvSpPr>
        <p:spPr>
          <a:xfrm>
            <a:off x="6227064" y="5394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+0.0155</a:t>
            </a:r>
            <a:pPr indent="0" marL="0">
              <a:buNone/>
            </a:pPr>
            <a:r>
              <a:rPr lang="en-US" sz="130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uncertainty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58368" y="5760720"/>
            <a:ext cx="10872216" cy="640080"/>
          </a:xfrm>
          <a:prstGeom prst="roundRect">
            <a:avLst>
              <a:gd name="adj" fmla="val 8571"/>
            </a:avLst>
          </a:prstGeom>
          <a:solidFill>
            <a:srgbClr val="F4F6F9"/>
          </a:solidFill>
          <a:ln/>
        </p:spPr>
      </p:sp>
      <p:sp>
        <p:nvSpPr>
          <p:cNvPr id="14" name="Text 10"/>
          <p:cNvSpPr/>
          <p:nvPr/>
        </p:nvSpPr>
        <p:spPr>
          <a:xfrm>
            <a:off x="896112" y="5760720"/>
            <a:ext cx="10396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positives ⇒ higher F1. </a:t>
            </a:r>
            <a:pPr indent="0" marL="0">
              <a:buNone/>
            </a:pPr>
            <a:r>
              <a:rPr lang="en-US" sz="18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 sampling buys 732 fewer — and loses 0.0155.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04704" y="457200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10204704" y="457200"/>
            <a:ext cx="950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LIOR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1228832" y="4572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640080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B24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rounds beat one big order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58368" y="1481328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Retraining the scout between rounds sharpens its ranking.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58368" y="1975104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precision per round — the vein runs out</a:t>
            </a:r>
            <a:endParaRPr lang="en-US" sz="16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286000"/>
          <a:ext cx="777240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549640" y="2286000"/>
            <a:ext cx="2980944" cy="1463040"/>
          </a:xfrm>
          <a:prstGeom prst="roundRect">
            <a:avLst>
              <a:gd name="adj" fmla="val 3125"/>
            </a:avLst>
          </a:prstGeom>
          <a:solidFill>
            <a:srgbClr val="F4F6F9"/>
          </a:solidFill>
          <a:ln/>
        </p:spPr>
      </p:sp>
      <p:sp>
        <p:nvSpPr>
          <p:cNvPr id="10" name="Text 7"/>
          <p:cNvSpPr/>
          <p:nvPr/>
        </p:nvSpPr>
        <p:spPr>
          <a:xfrm>
            <a:off x="8796528" y="2414016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— 5 x 1,000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796528" y="2688336"/>
            <a:ext cx="2487168" cy="718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3,140</a:t>
            </a:r>
            <a:endParaRPr lang="en-US" sz="4400" dirty="0"/>
          </a:p>
        </p:txBody>
      </p:sp>
      <p:sp>
        <p:nvSpPr>
          <p:cNvPr id="12" name="Text 9"/>
          <p:cNvSpPr/>
          <p:nvPr/>
        </p:nvSpPr>
        <p:spPr>
          <a:xfrm>
            <a:off x="8796528" y="3406648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positives  ·  F1 0.6471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549640" y="3877056"/>
            <a:ext cx="2980944" cy="1463040"/>
          </a:xfrm>
          <a:prstGeom prst="roundRect">
            <a:avLst>
              <a:gd name="adj" fmla="val 3125"/>
            </a:avLst>
          </a:prstGeom>
          <a:solidFill>
            <a:srgbClr val="F4F6F9"/>
          </a:solidFill>
          <a:ln/>
        </p:spPr>
      </p:sp>
      <p:sp>
        <p:nvSpPr>
          <p:cNvPr id="14" name="Text 11"/>
          <p:cNvSpPr/>
          <p:nvPr/>
        </p:nvSpPr>
        <p:spPr>
          <a:xfrm>
            <a:off x="8796528" y="400507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One-shot — 1 x 5,000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796528" y="4279392"/>
            <a:ext cx="2487168" cy="718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7C87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2,900</a:t>
            </a:r>
            <a:endParaRPr lang="en-US" sz="4400" dirty="0"/>
          </a:p>
        </p:txBody>
      </p:sp>
      <p:sp>
        <p:nvSpPr>
          <p:cNvPr id="16" name="Text 13"/>
          <p:cNvSpPr/>
          <p:nvPr/>
        </p:nvSpPr>
        <p:spPr>
          <a:xfrm>
            <a:off x="8796528" y="4997704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positives  ·  F1 0.6408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549640" y="5431536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 positives, free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58368" y="5760720"/>
            <a:ext cx="10872216" cy="640080"/>
          </a:xfrm>
          <a:prstGeom prst="roundRect">
            <a:avLst>
              <a:gd name="adj" fmla="val 8571"/>
            </a:avLst>
          </a:prstGeom>
          <a:solidFill>
            <a:srgbClr val="F4F6F9"/>
          </a:solidFill>
          <a:ln/>
        </p:spPr>
      </p:sp>
      <p:sp>
        <p:nvSpPr>
          <p:cNvPr id="19" name="Text 16"/>
          <p:cNvSpPr/>
          <p:nvPr/>
        </p:nvSpPr>
        <p:spPr>
          <a:xfrm>
            <a:off x="896112" y="5760720"/>
            <a:ext cx="10396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yield decays 79.5% → 44.3%, toward the 33% base rate. </a:t>
            </a:r>
            <a:pPr indent="0" marL="0">
              <a:buNone/>
            </a:pPr>
            <a:r>
              <a:rPr lang="en-US" sz="1800" b="1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budget would not save us.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04704" y="457200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10204704" y="457200"/>
            <a:ext cx="950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LIOR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1228832" y="4572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640080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B24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Frozen threshold? Move the data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58368" y="1481328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Duplicating positives is the only recall lever we may pull.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58368" y="197510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F1 vs positive-duplication ratio</a:t>
            </a:r>
            <a:endParaRPr lang="en-US" sz="16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286000"/>
          <a:ext cx="7863840" cy="3310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658368" y="54864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Copies of each known positive in the final training set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641080" y="2286000"/>
            <a:ext cx="2889504" cy="1463040"/>
          </a:xfrm>
          <a:prstGeom prst="roundRect">
            <a:avLst>
              <a:gd name="adj" fmla="val 3125"/>
            </a:avLst>
          </a:prstGeom>
          <a:solidFill>
            <a:srgbClr val="F4F6F9"/>
          </a:solidFill>
          <a:ln/>
        </p:spPr>
      </p:sp>
      <p:sp>
        <p:nvSpPr>
          <p:cNvPr id="11" name="Text 8"/>
          <p:cNvSpPr/>
          <p:nvPr/>
        </p:nvSpPr>
        <p:spPr>
          <a:xfrm>
            <a:off x="8796528" y="2505456"/>
            <a:ext cx="2651760" cy="656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+0.0178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8796528" y="31617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1x → 2x — our biggest win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641080" y="3877056"/>
            <a:ext cx="2889504" cy="1554480"/>
          </a:xfrm>
          <a:prstGeom prst="roundRect">
            <a:avLst>
              <a:gd name="adj" fmla="val 2941"/>
            </a:avLst>
          </a:prstGeom>
          <a:solidFill>
            <a:srgbClr val="F4F6F9"/>
          </a:solidFill>
          <a:ln/>
        </p:spPr>
      </p:sp>
      <p:sp>
        <p:nvSpPr>
          <p:cNvPr id="14" name="Text 11"/>
          <p:cNvSpPr/>
          <p:nvPr/>
        </p:nvSpPr>
        <p:spPr>
          <a:xfrm>
            <a:off x="8796528" y="4114800"/>
            <a:ext cx="2651760" cy="656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7C87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0.0006</a:t>
            </a:r>
            <a:endParaRPr lang="en-US" sz="4000" dirty="0"/>
          </a:p>
        </p:txBody>
      </p:sp>
      <p:sp>
        <p:nvSpPr>
          <p:cNvPr id="15" name="Text 12"/>
          <p:cNvSpPr/>
          <p:nvPr/>
        </p:nvSpPr>
        <p:spPr>
          <a:xfrm>
            <a:off x="8796528" y="4771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 vs 3x — the gap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796528" y="50840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our ±0.005 noise floor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58368" y="5760720"/>
            <a:ext cx="10872216" cy="640080"/>
          </a:xfrm>
          <a:prstGeom prst="roundRect">
            <a:avLst>
              <a:gd name="adj" fmla="val 8571"/>
            </a:avLst>
          </a:prstGeom>
          <a:solidFill>
            <a:srgbClr val="F4F6F9"/>
          </a:solidFill>
          <a:ln/>
        </p:spPr>
      </p:sp>
      <p:sp>
        <p:nvSpPr>
          <p:cNvPr id="18" name="Text 15"/>
          <p:cNvSpPr/>
          <p:nvPr/>
        </p:nvSpPr>
        <p:spPr>
          <a:xfrm>
            <a:off x="896112" y="5760720"/>
            <a:ext cx="10396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Duplication matters. </a:t>
            </a:r>
            <a:pPr indent="0" marL="0">
              <a:buNone/>
            </a:pPr>
            <a:r>
              <a:rPr lang="en-US" sz="1800" b="1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ratio in [2, 3] does not — that gap is noise.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04704" y="457200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10204704" y="457200"/>
            <a:ext cx="950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1228832" y="4572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640080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B24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 configurations. None survived.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58368" y="1481328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Pre-declared bar: +0.005 — our measured noise floor.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58368" y="1975104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in mean F1 vs our 0.6471</a:t>
            </a:r>
            <a:endParaRPr lang="en-US" sz="16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286000"/>
          <a:ext cx="7315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2286000"/>
            <a:ext cx="3438144" cy="2048256"/>
          </a:xfrm>
          <a:prstGeom prst="roundRect">
            <a:avLst>
              <a:gd name="adj" fmla="val 2232"/>
            </a:avLst>
          </a:prstGeom>
          <a:solidFill>
            <a:srgbClr val="F4F6F9"/>
          </a:solidFill>
          <a:ln/>
        </p:spPr>
      </p:sp>
      <p:sp>
        <p:nvSpPr>
          <p:cNvPr id="10" name="Text 7"/>
          <p:cNvSpPr/>
          <p:nvPr/>
        </p:nvSpPr>
        <p:spPr>
          <a:xfrm>
            <a:off x="8366760" y="2468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8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“WINNER” WE REJECTED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366760" y="2816352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2200" b="1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+0.0010 — and it hurt seed 1.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366760" y="3584448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One-fifth of the noise floor. Adopting it fits our test set, not the problem.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092440" y="4480560"/>
            <a:ext cx="3438144" cy="1517904"/>
          </a:xfrm>
          <a:prstGeom prst="roundRect">
            <a:avLst>
              <a:gd name="adj" fmla="val 3012"/>
            </a:avLst>
          </a:prstGeom>
          <a:solidFill>
            <a:srgbClr val="F4F6F9"/>
          </a:solidFill>
          <a:ln/>
        </p:spPr>
      </p:sp>
      <p:sp>
        <p:nvSpPr>
          <p:cNvPr id="14" name="Text 11"/>
          <p:cNvSpPr/>
          <p:nvPr/>
        </p:nvSpPr>
        <p:spPr>
          <a:xfrm>
            <a:off x="8366760" y="46268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8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SURPRISE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366760" y="49377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800" b="1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Query-by-committee ≡ probability.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366760" y="554126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forest already is a committee.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58368" y="6053328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C87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Ceiling: round-5 precision 44% ≈ the 33% base rate. Not our algorithm — the features.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04704" y="457200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E3A140"/>
          </a:solidFill>
          <a:ln/>
        </p:spPr>
      </p:sp>
      <p:sp>
        <p:nvSpPr>
          <p:cNvPr id="3" name="Text 1"/>
          <p:cNvSpPr/>
          <p:nvPr/>
        </p:nvSpPr>
        <p:spPr>
          <a:xfrm>
            <a:off x="10204704" y="457200"/>
            <a:ext cx="950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LIOR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1228832" y="4572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E9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640080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58368" y="1481328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3A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0.6471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58368" y="28163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3C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F1 (“Left”)  ·  seeds 1, 2, 3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3346704"/>
          <a:ext cx="60350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1463040"/>
                <a:gridCol w="1188720"/>
                <a:gridCol w="118872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8E9C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8E9C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8E9C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8E9C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8E9C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0.6381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 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0.6491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 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0.6539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34.5 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58368" y="5266944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9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 IDs used  ·  34.5 s worst case, cap 60 s  ·  0.55 line cleared by +0.097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949440" y="1371600"/>
            <a:ext cx="4581144" cy="4572000"/>
          </a:xfrm>
          <a:prstGeom prst="roundRect">
            <a:avLst>
              <a:gd name="adj" fmla="val 1000"/>
            </a:avLst>
          </a:prstGeom>
          <a:solidFill>
            <a:srgbClr val="22304F"/>
          </a:solidFill>
          <a:ln/>
        </p:spPr>
      </p:sp>
      <p:sp>
        <p:nvSpPr>
          <p:cNvPr id="11" name="Text 8"/>
          <p:cNvSpPr/>
          <p:nvPr/>
        </p:nvSpPr>
        <p:spPr>
          <a:xfrm>
            <a:off x="7269480" y="170078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10" kern="0" dirty="0">
                <a:solidFill>
                  <a:srgbClr val="E3A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WE’D TELL THE NEXT TEAM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269480" y="2212848"/>
            <a:ext cx="3977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metric before</a:t>
            </a:r>
            <a:endParaRPr lang="en-US" sz="2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the algorithm.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7269480" y="3072384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800" dirty="0">
                <a:solidFill>
                  <a:srgbClr val="C3C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rewrote the problem from “label the most informative points” to “find the most positives”.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7269480" y="4114800"/>
            <a:ext cx="3977640" cy="0"/>
          </a:xfrm>
          <a:prstGeom prst="line">
            <a:avLst/>
          </a:prstGeom>
          <a:noFill/>
          <a:ln w="12700">
            <a:solidFill>
              <a:srgbClr val="2C3A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269480" y="4315968"/>
            <a:ext cx="3977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your noise floor</a:t>
            </a:r>
            <a:endParaRPr lang="en-US" sz="2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first.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7269480" y="5175504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800" dirty="0">
                <a:solidFill>
                  <a:srgbClr val="C3C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was ±0.005. Without it we’d have “improved” the model nine times.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B Section A - Active Learning for Employee Attrition</dc:title>
  <dc:subject>PptxGenJS Presentation</dc:subject>
  <dc:creator/>
  <cp:lastModifiedBy/>
  <cp:revision>1</cp:revision>
  <dcterms:created xsi:type="dcterms:W3CDTF">2026-07-17T04:05:34Z</dcterms:created>
  <dcterms:modified xsi:type="dcterms:W3CDTF">2026-07-17T04:05:34Z</dcterms:modified>
</cp:coreProperties>
</file>