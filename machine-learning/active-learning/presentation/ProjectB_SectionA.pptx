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447e503734703" /><Relationship Type="http://schemas.openxmlformats.org/officeDocument/2006/relationships/extended-properties" Target="/docProps/app.xml" Id="R1162eebff111409f" /><Relationship Type="http://schemas.openxmlformats.org/officeDocument/2006/relationships/officeDocument" Target="/ppt/presentation.xml" Id="R91389918a62e42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5164181134f19"/>
  </p:sldMasterIdLst>
  <p:notesMasterIdLst>
    <p:notesMasterId xmlns:r="http://schemas.openxmlformats.org/officeDocument/2006/relationships" r:id="R83fad49dd7184e5f"/>
  </p:notesMasterIdLst>
  <p:sldIdLst>
    <p:sldId xmlns:r="http://schemas.openxmlformats.org/officeDocument/2006/relationships" id="256" r:id="R14415b243d9b4fda"/>
    <p:sldId xmlns:r="http://schemas.openxmlformats.org/officeDocument/2006/relationships" id="257" r:id="Rb9ff173afa284522"/>
    <p:sldId xmlns:r="http://schemas.openxmlformats.org/officeDocument/2006/relationships" id="258" r:id="Rc6f5500b710a4cf0"/>
    <p:sldId xmlns:r="http://schemas.openxmlformats.org/officeDocument/2006/relationships" id="259" r:id="Rc43b6f6177eb4704"/>
    <p:sldId xmlns:r="http://schemas.openxmlformats.org/officeDocument/2006/relationships" id="260" r:id="Rf0c67b26f2c0465c"/>
    <p:sldId xmlns:r="http://schemas.openxmlformats.org/officeDocument/2006/relationships" id="261" r:id="R73489db1540448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21a42fc688409e" /><Relationship Type="http://schemas.openxmlformats.org/officeDocument/2006/relationships/slideMaster" Target="/ppt/slideMasters/slideMaster1.xml" Id="Ra9a5164181134f19" /><Relationship Type="http://schemas.openxmlformats.org/officeDocument/2006/relationships/notesMaster" Target="/ppt/notesMasters/notesMaster1.xml" Id="R83fad49dd7184e5f" /><Relationship Type="http://schemas.openxmlformats.org/officeDocument/2006/relationships/presProps" Target="/ppt/presProps.xml" Id="R74dd4ecbbaf2411d" /><Relationship Type="http://schemas.openxmlformats.org/officeDocument/2006/relationships/viewProps" Target="/ppt/viewProps.xml" Id="R88336cc6f3d840e6" /><Relationship Type="http://schemas.openxmlformats.org/officeDocument/2006/relationships/tableStyles" Target="/ppt/tableStyles.xml" Id="R39674208bc144008" /><Relationship Type="http://schemas.openxmlformats.org/officeDocument/2006/relationships/slide" Target="/ppt/slides/slide1.xml" Id="R14415b243d9b4fda" /><Relationship Type="http://schemas.openxmlformats.org/officeDocument/2006/relationships/slide" Target="/ppt/slides/slide2.xml" Id="Rb9ff173afa284522" /><Relationship Type="http://schemas.openxmlformats.org/officeDocument/2006/relationships/slide" Target="/ppt/slides/slide3.xml" Id="Rc6f5500b710a4cf0" /><Relationship Type="http://schemas.openxmlformats.org/officeDocument/2006/relationships/slide" Target="/ppt/slides/slide4.xml" Id="Rc43b6f6177eb4704" /><Relationship Type="http://schemas.openxmlformats.org/officeDocument/2006/relationships/slide" Target="/ppt/slides/slide5.xml" Id="Rf0c67b26f2c0465c" /><Relationship Type="http://schemas.openxmlformats.org/officeDocument/2006/relationships/slide" Target="/ppt/slides/slide6.xml" Id="R73489db1540448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bfe8fdd5d7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afcfde6144a46" /><Relationship Type="http://schemas.openxmlformats.org/officeDocument/2006/relationships/notesMaster" Target="/ppt/notesMasters/notesMaster1.xml" Id="Rd3196d8ae9ba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5734fd107c46c5" /><Relationship Type="http://schemas.openxmlformats.org/officeDocument/2006/relationships/notesMaster" Target="/ppt/notesMasters/notesMaster1.xml" Id="R84695f40dcc6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9e3e89eb3d43b9" /><Relationship Type="http://schemas.openxmlformats.org/officeDocument/2006/relationships/notesMaster" Target="/ppt/notesMasters/notesMaster1.xml" Id="R491f7349f359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e680be0074de1" /><Relationship Type="http://schemas.openxmlformats.org/officeDocument/2006/relationships/notesMaster" Target="/ppt/notesMasters/notesMaster1.xml" Id="R266485ef93d1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09fb052d134a0e" /><Relationship Type="http://schemas.openxmlformats.org/officeDocument/2006/relationships/notesMaster" Target="/ppt/notesMasters/notesMaster1.xml" Id="R8aee4cb9b9c14c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4cb1066d69407c" /><Relationship Type="http://schemas.openxmlformats.org/officeDocument/2006/relationships/notesMaster" Target="/ppt/notesMasters/notesMaster1.xml" Id="Rd719ee71f0f249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Fourteen thousand nine hundred unlabeled employees. Five hundred free labels, five thousand we can buy, and a Random Forest we're not allowed to change. Two facts decided everything: only the positive class scores, and the half threshold is frozen.  [~15s]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we asked what a label is worth. Random sampling buys sixteen-fifty positives — the base rate. Textbook uncertainty sampling buys twenty-four hundred. Just asking for the most-likely positives buys thirty-one-forty, and wins by point-oh-one-five F1. When the metric is minority-class F1, refining the boundary is the wrong instinct.  [~20s]   Handoff: “Lior — so when do we spend it?”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five rounds, not one. Retraining the scout between rounds buys two hundred forty extra positives for free. But look at the decay — eighty percent yield in round one, forty-four by round five, closing on the thirty-three percent base rate. We're running out of vein.  [~18s]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the threshold. It's frozen, so we move the data instead: duplicate every positive once. That's plus point-oh-one-eight — our biggest win. But be careful. Two-x and three-x differ by point-oh-six percent, well inside our noise floor. So we claim duplication matters — not that two is magic.  [~20s]   Handoff: “Raz, what didn't work?”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Thirty-two configurations. We pre-declared a plus-point-oh-oh-five bar — our measured noise — and nothing cleared it. Our best candidate gained point-oh-oh-one and hurt seed one, so we rejected it. Query-by-committee turned out identical to probability: a forest already is a committee.  [~17s]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Point-six-four-seven-one mean F1, every seed inside thirty-five seconds. The lesson: read the metric before you write the algorithm. It quietly rewrote the whole problem.  [~10s]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ae4fc1a4b44d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8fc51a67454f9d" /><Relationship Type="http://schemas.openxmlformats.org/officeDocument/2006/relationships/slideLayout" Target="/ppt/slideLayouts/slideLayout1.xml" Id="R1896ca4cba414c1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6ca4cba414c1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1754e1f564f42" /><Relationship Type="http://schemas.openxmlformats.org/officeDocument/2006/relationships/notesSlide" Target="/ppt/notesSlides/notesSlide1.xml" Id="Re6b3492ec29248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bdbc64ecf489a" /><Relationship Type="http://schemas.openxmlformats.org/officeDocument/2006/relationships/chart" Target="/ppt/slides/charts/chart1.xml" Id="Rfca56a4ca3ae4e04" /><Relationship Type="http://schemas.openxmlformats.org/officeDocument/2006/relationships/chart" Target="/ppt/slides/charts/chart2.xml" Id="R1f9a1672281e41ab" /><Relationship Type="http://schemas.openxmlformats.org/officeDocument/2006/relationships/notesSlide" Target="/ppt/notesSlides/notesSlide2.xml" Id="Rf4a021e7ebc24b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baa6e1f6492d" /><Relationship Type="http://schemas.openxmlformats.org/officeDocument/2006/relationships/chart" Target="/ppt/slides/charts/chart3.xml" Id="R7b4512394c9e4f8b" /><Relationship Type="http://schemas.openxmlformats.org/officeDocument/2006/relationships/notesSlide" Target="/ppt/notesSlides/notesSlide3.xml" Id="R76e176171ace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7294fe8074d05" /><Relationship Type="http://schemas.openxmlformats.org/officeDocument/2006/relationships/chart" Target="/ppt/slides/charts/chart4.xml" Id="R881f3dbf7033447f" /><Relationship Type="http://schemas.openxmlformats.org/officeDocument/2006/relationships/notesSlide" Target="/ppt/notesSlides/notesSlide4.xml" Id="R3b25480efb9f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b82aa47764c93" /><Relationship Type="http://schemas.openxmlformats.org/officeDocument/2006/relationships/chart" Target="/ppt/slides/charts/chart5.xml" Id="R78e61a703b304bba" /><Relationship Type="http://schemas.openxmlformats.org/officeDocument/2006/relationships/notesSlide" Target="/ppt/notesSlides/notesSlide5.xml" Id="Rfd9b3e78fb1e43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4be30dd344bd1" /><Relationship Type="http://schemas.openxmlformats.org/officeDocument/2006/relationships/notesSlide" Target="/ppt/notesSlides/notesSlide6.xml" Id="R64fcc7c3ad0d43d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Positives bought</c:v>
          </c:tx>
          <c:dPt>
            <c:idx val="0"/>
            <c:invertIfNegative val="0"/>
            <c:spPr>
              <a:solidFill xmlns:a="http://schemas.openxmlformats.org/drawingml/2006/main">
                <a:srgbClr val="E3A140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61C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8A4A0B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3"/>
              <c:pt idx="0">
                <c:v>Random</c:v>
              </c:pt>
              <c:pt idx="1">
                <c:v>Uncertainty</c:v>
              </c:pt>
              <c:pt idx="2">
                <c:v>Hunting</c:v>
              </c:pt>
            </c:strLit>
          </c:cat>
          <c:val>
            <c:numLit>
              <c:formatCode>#,##0</c:formatCode>
              <c:ptCount val="3"/>
              <c:pt idx="0">
                <c:v>1652</c:v>
              </c:pt>
              <c:pt idx="1">
                <c:v>2408</c:v>
              </c:pt>
              <c:pt idx="2">
                <c:v>3140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F1</c:v>
          </c:tx>
          <c:dPt>
            <c:idx val="0"/>
            <c:invertIfNegative val="0"/>
            <c:spPr>
              <a:solidFill xmlns:a="http://schemas.openxmlformats.org/drawingml/2006/main">
                <a:srgbClr val="E3A140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61C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8A4A0B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3"/>
              <c:pt idx="0">
                <c:v>Random</c:v>
              </c:pt>
              <c:pt idx="1">
                <c:v>Uncertainty</c:v>
              </c:pt>
              <c:pt idx="2">
                <c:v>Hunting</c:v>
              </c:pt>
            </c:strLit>
          </c:cat>
          <c:val>
            <c:numLit>
              <c:formatCode>0.0000</c:formatCode>
              <c:ptCount val="3"/>
              <c:pt idx="0">
                <c:v>0.6124</c:v>
              </c:pt>
              <c:pt idx="1">
                <c:v>0.6316</c:v>
              </c:pt>
              <c:pt idx="2">
                <c:v>0.6471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6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Batch precision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B45309"/>
              </a:solidFill>
            </c:spPr>
          </c:marker>
          <c:cat>
            <c:strLit>
              <c:ptCount val="5"/>
              <c:pt idx="0">
                <c:v>Round 1</c:v>
              </c:pt>
              <c:pt idx="1">
                <c:v>Round 2</c:v>
              </c:pt>
              <c:pt idx="2">
                <c:v>Round 3</c:v>
              </c:pt>
              <c:pt idx="3">
                <c:v>Round 4</c:v>
              </c:pt>
              <c:pt idx="4">
                <c:v>Round 5</c:v>
              </c:pt>
            </c:strLit>
          </c:cat>
          <c:val>
            <c:numLit>
              <c:formatCode>0.0</c:formatCode>
              <c:ptCount val="5"/>
              <c:pt idx="0">
                <c:v>79.5</c:v>
              </c:pt>
              <c:pt idx="1">
                <c:v>78.2</c:v>
              </c:pt>
              <c:pt idx="2">
                <c:v>60.8</c:v>
              </c:pt>
              <c:pt idx="3">
                <c:v>51.2</c:v>
              </c:pt>
              <c:pt idx="4">
                <c:v>44.3</c:v>
              </c:pt>
            </c:numLit>
          </c:val>
          <c:smooth val="0"/>
        </c:ser>
        <c:ser>
          <c:idx val="1"/>
          <c:order val="1"/>
          <c:tx>
            <c:v>Pool base rate (33%)</c:v>
          </c:tx>
          <c:spPr>
            <a:ln xmlns:a="http://schemas.openxmlformats.org/drawingml/2006/main" w="23813">
              <a:solidFill>
                <a:srgbClr val="8993A3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Round 1</c:v>
              </c:pt>
              <c:pt idx="1">
                <c:v>Round 2</c:v>
              </c:pt>
              <c:pt idx="2">
                <c:v>Round 3</c:v>
              </c:pt>
              <c:pt idx="3">
                <c:v>Round 4</c:v>
              </c:pt>
              <c:pt idx="4">
                <c:v>Round 5</c:v>
              </c:pt>
            </c:strLit>
          </c:cat>
          <c:val>
            <c:numLit>
              <c:formatCode>0.0</c:formatCode>
              <c:ptCount val="5"/>
              <c:pt idx="0">
                <c:v>33</c:v>
              </c:pt>
              <c:pt idx="1">
                <c:v>33</c:v>
              </c:pt>
              <c:pt idx="2">
                <c:v>33</c:v>
              </c:pt>
              <c:pt idx="3">
                <c:v>33</c:v>
              </c:pt>
              <c:pt idx="4">
                <c:v>33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77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Mean F1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B45309"/>
              </a:solidFill>
            </c:spPr>
          </c:marker>
          <c:cat>
            <c:strLit>
              <c:ptCount val="9"/>
              <c:pt idx="0">
                <c:v>1x</c:v>
              </c:pt>
              <c:pt idx="1">
                <c:v>1.25x</c:v>
              </c:pt>
              <c:pt idx="2">
                <c:v>1.5x</c:v>
              </c:pt>
              <c:pt idx="3">
                <c:v>1.75x</c:v>
              </c:pt>
              <c:pt idx="4">
                <c:v>2x</c:v>
              </c:pt>
              <c:pt idx="5">
                <c:v>2.25x</c:v>
              </c:pt>
              <c:pt idx="6">
                <c:v>2.5x</c:v>
              </c:pt>
              <c:pt idx="7">
                <c:v>3x</c:v>
              </c:pt>
              <c:pt idx="8">
                <c:v>4x</c:v>
              </c:pt>
            </c:strLit>
          </c:cat>
          <c:val>
            <c:numLit>
              <c:formatCode>0.0000</c:formatCode>
              <c:ptCount val="9"/>
              <c:pt idx="0">
                <c:v>0.6293</c:v>
              </c:pt>
              <c:pt idx="1">
                <c:v>0.6372</c:v>
              </c:pt>
              <c:pt idx="2">
                <c:v>0.6359</c:v>
              </c:pt>
              <c:pt idx="3">
                <c:v>0.6388</c:v>
              </c:pt>
              <c:pt idx="4">
                <c:v>0.6471</c:v>
              </c:pt>
              <c:pt idx="5">
                <c:v>0.641</c:v>
              </c:pt>
              <c:pt idx="6">
                <c:v>0.6411</c:v>
              </c:pt>
              <c:pt idx="7">
                <c:v>0.6465</c:v>
              </c:pt>
              <c:pt idx="8">
                <c:v>0.6424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.6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Delta vs our 0.6471</c:v>
          </c:tx>
          <c:spPr>
            <a:solidFill xmlns:a="http://schemas.openxmlformats.org/drawingml/2006/main">
              <a:srgbClr val="8893A3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F5700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8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9"/>
              <c:pt idx="0">
                <c:v>Tiered oversampling</c:v>
              </c:pt>
              <c:pt idx="1">
                <c:v>Graded batches</c:v>
              </c:pt>
              <c:pt idx="2">
                <c:v>Hard-negative upweight</c:v>
              </c:pt>
              <c:pt idx="3">
                <c:v>10 x 500 rounds</c:v>
              </c:pt>
              <c:pt idx="4">
                <c:v>Balanced scout</c:v>
              </c:pt>
              <c:pt idx="5">
                <c:v>KMeans diversity</c:v>
              </c:pt>
              <c:pt idx="6">
                <c:v>Cluster exploration</c:v>
              </c:pt>
              <c:pt idx="7">
                <c:v>Uncertainty sampling</c:v>
              </c:pt>
              <c:pt idx="8">
                <c:v>Random acquisition</c:v>
              </c:pt>
            </c:strLit>
          </c:cat>
          <c:val>
            <c:numLit>
              <c:formatCode>+0.0000;-0.0000;0.0000</c:formatCode>
              <c:ptCount val="9"/>
              <c:pt idx="0">
                <c:v>0.001</c:v>
              </c:pt>
              <c:pt idx="1">
                <c:v>-0.0027</c:v>
              </c:pt>
              <c:pt idx="2">
                <c:v>-0.0037</c:v>
              </c:pt>
              <c:pt idx="3">
                <c:v>-0.0072</c:v>
              </c:pt>
              <c:pt idx="4">
                <c:v>-0.0091</c:v>
              </c:pt>
              <c:pt idx="5">
                <c:v>-0.0096</c:v>
              </c:pt>
              <c:pt idx="6">
                <c:v>-0.0126</c:v>
              </c:pt>
              <c:pt idx="7">
                <c:v>-0.0155</c:v>
              </c:pt>
              <c:pt idx="8">
                <c:v>-0.0347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5"/>
          <c:min val="-0.0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9AA2A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7B899D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1575E7-FEAC-421F-9526-305981B8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14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11CEED-69BD-4B2B-8CEA-9D3E144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RAZ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A2F5EF-6625-44C7-874D-6FA23F2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1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130107-13FF-4A42-B9C0-73881FD9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720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60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Project B  ·  Section A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76343DB-5D27-478B-9838-87931C4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57607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Buy 5,000 labels.</a:t>
            </a:r>
            <a:endParaRPr sz="360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Maximise F1 on “Left”.</a:t>
            </a:r>
            <a:endParaRPr sz="3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81D8F9-41A8-4000-BDD2-35CB4C07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6265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Unlabeled pool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3EA502-EDD2-48AC-AB12-71548D8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96265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14,900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BDEE55C-6266-49E7-9E61-5977B95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3814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FE572D-F868-4080-9C58-DA8C87D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1129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Free labels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EBD19F-6C15-4E2F-84F8-099AA47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51129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500</a:t>
            </a:r>
            <a:endParaRPr sz="1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E33222E-1B15-4C74-A028-58C73EA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8678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DFB7FF-B9C5-40E5-8A7F-DA5F14E9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599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Oracle budget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E977BA-E5A0-44EB-9077-B051D70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05993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5,000</a:t>
            </a:r>
            <a:endParaRPr sz="1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DA4BBE-0E19-4D5D-9436-CC2D897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3542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5B2D90-52E1-4082-A460-B51F9331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0857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Classifier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012F167-1AF7-40C3-A9BA-E9B09D31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60857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RandomForest — fixed</a:t>
            </a:r>
            <a:endParaRPr sz="18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D32D4BF-7C12-4382-93DC-483D58D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8406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FECACA1-131D-4BD0-AB7A-7EE0C398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5721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Metric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67BF835-B6EB-483E-94B7-279CF2E4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15721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F1 (“Left”) @ 0.5</a:t>
            </a:r>
            <a:endParaRPr sz="18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A599D8F-5782-4968-8216-FF9629C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3270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6782271-CC8D-4EE1-A5A7-D2E916DB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051560"/>
            <a:ext cx="4992624" cy="4937760"/>
          </a:xfrm>
          <a:prstGeom xmlns:a="http://schemas.openxmlformats.org/drawingml/2006/main" prst="roundRect">
            <a:avLst>
              <a:gd name="adj" fmla="val 926"/>
            </a:avLst>
          </a:prstGeom>
          <a:solidFill xmlns:a="http://schemas.openxmlformats.org/drawingml/2006/main">
            <a:srgbClr val="22304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3EED00-3D1D-41F9-A89A-30465BB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371600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10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THE METRIC DICTATES THE STRATEGY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4BBA95-0D92-49EF-A0EC-6AC009B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88366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Only the positive class scores.</a:t>
            </a:r>
            <a:endParaRPr sz="2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7B5041-0B09-488B-AD35-CB52597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8600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True negatives add nothing to F1.</a:t>
            </a:r>
            <a:endParaRPr sz="1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588E6EC-46F3-4250-9DF7-02B3197C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03580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0.5 threshold is frozen.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83769AF-B3CE-455B-A9E7-373159E3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438144"/>
            <a:ext cx="4389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The grader calls predict(). The only</a:t>
            </a:r>
            <a:endParaRPr sz="1800"/>
          </a:p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lever left is what we train on.</a:t>
            </a:r>
            <a:endParaRPr sz="18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5F47A38-4D42-480D-9FCC-0C62B91E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370832"/>
            <a:ext cx="4389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3A5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9F292C6-4B1C-4658-A4DB-7AA9FD5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72000"/>
            <a:ext cx="438912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So: hunt positives,</a:t>
            </a:r>
            <a:endParaRPr sz="24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then reweight.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B511D7F-B46E-4C45-A29D-E658DDBF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5504688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Raz Ben Aharon  ·  Lior Malachi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69507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5AB7DE-96F9-42D3-9DD4-885AD8B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C94716-57B1-4EE2-ADCE-19A277CA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RAZ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789724-CB50-4249-B4EF-7A4A4ED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2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3797FF-D9A0-47BA-8339-1CB5EB68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Hunt positives, don’t refine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577FFB-500D-4FBC-88CA-A1BB2F7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Same 5,000-query budget. Three acquisition rules.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C0F0C01-8D5B-41DE-B86C-7337BD77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True positives bought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0B80D30-A6FB-46B8-AD57-9C4EBC4E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Hit rate  33.0%  ·  48.2%  ·  62.8%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EAB61F5-8299-4ED9-8420-9D32C78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97510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Resulting mean F1 (“Left”)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340C036-3E0B-4481-A2B4-46B3380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39496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+0.0155</a:t>
            </a: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 vs uncertainty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B5B3BD2-7091-4BDC-8D11-9D9F3518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72216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5E95EFA-1023-48FE-A967-9601CE44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60720"/>
            <a:ext cx="10396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More positives ⇒ higher F1. </a:t>
            </a:r>
            <a:r>
              <a:rPr sz="1800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Uncertainty sampling buys 732 fewer — and loses 0.0155.</a:t>
            </a:r>
            <a:endParaRPr sz="1800"/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48640" y="2286000"/>
          <a:ext xmlns:a="http://schemas.openxmlformats.org/drawingml/2006/main" cx="539496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a56a4ca3ae4e04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26480" y="2286000"/>
          <a:ext xmlns:a="http://schemas.openxmlformats.org/drawingml/2006/main" cx="539496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9a1672281e41ab"/>
          </a:graphicData>
        </a:graphic>
      </p:graphicFrame>
    </p:spTree>
    <p:extLst>
      <p:ext uri="{BB962C8B-B14F-4D97-AF65-F5344CB8AC3E}">
        <p14:creationId xmlns:p14="http://schemas.microsoft.com/office/powerpoint/2010/main" val="23422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302C48-BB00-4588-9EA6-152CAD4A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C72DDC-E31D-48FC-9801-702B8D6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LIOR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CF7887-0252-455E-B6C6-9E52A92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3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47FD70-447A-412B-87A0-AE11266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5 rounds beat one big order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EAED32E-88D9-437B-8B08-14E31336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Retraining the scout between rounds sharpens its ranking.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29B707-5BD9-4E36-B43B-368D190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Query precision per round — the vein runs out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03E96C8-2009-457D-A065-B5BAF36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286000"/>
            <a:ext cx="2980944" cy="14630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C83498-E4E6-43E3-8DC1-8F36CFB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414016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Iterative — 5 x 1,000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1053114-EA76-441D-B049-ACC19E2D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688336"/>
            <a:ext cx="2487168" cy="718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B45309"/>
                </a:solidFill>
                <a:latin typeface="Cambria"/>
                <a:ea typeface="Cambria"/>
                <a:cs typeface="Cambria"/>
              </a:rPr>
              <a:t>3,140</a:t>
            </a:r>
            <a:endParaRPr sz="4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43DCE3-2851-4DBF-AC08-7287FD0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406648"/>
            <a:ext cx="2487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positives  ·  F1 0.6471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8CCE2F-4475-4229-B353-D8F60388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77056"/>
            <a:ext cx="2980944" cy="14630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2928CA-25B3-48AC-B518-F3960ADB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005072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One-shot — 1 x 5,000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1A25B0B-CDCD-47B1-A660-FB142E0E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279392"/>
            <a:ext cx="2487168" cy="718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7C8797"/>
                </a:solidFill>
                <a:latin typeface="Cambria"/>
                <a:ea typeface="Cambria"/>
                <a:cs typeface="Cambria"/>
              </a:rPr>
              <a:t>2,900</a:t>
            </a:r>
            <a:endParaRPr sz="4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29A43F5-63FF-4894-9473-5E81675B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997704"/>
            <a:ext cx="2487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positives  ·  F1 0.6408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0E730FB-9D66-4E36-AD31-062BED0C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31536"/>
            <a:ext cx="298094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+240 positives, free</a:t>
            </a:r>
            <a:endParaRPr sz="16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2939DF8-78A4-43DE-804F-C1B7BA01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72216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F615F1-2E13-48B0-84CA-EB3CAF0B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60720"/>
            <a:ext cx="10396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But the yield decays 79.5% → 44.3%, toward the 33% base rate. </a:t>
            </a: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More budget would not save us.</a:t>
            </a:r>
            <a:endParaRPr sz="1800"/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548640" y="2286000"/>
          <a:ext xmlns:a="http://schemas.openxmlformats.org/drawingml/2006/main" cx="777240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4512394c9e4f8b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5FFE8-DE74-4EBA-9DE3-C53A16BB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9213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79.5%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995BE-149C-4BF8-B480-01ACBD03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46838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78.2%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A697-5673-4041-A8A2-3F91836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84281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60.8%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34754-8FF5-4A7E-B8A4-09CFA17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35973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51.2%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6870A-7D5D-4155-8CBA-097A14E8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88752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44.3%</a:t>
            </a:r>
          </a:p>
        </p:txBody>
      </p:sp>
    </p:spTree>
    <p:extLst>
      <p:ext uri="{BB962C8B-B14F-4D97-AF65-F5344CB8AC3E}">
        <p14:creationId xmlns:p14="http://schemas.microsoft.com/office/powerpoint/2010/main" val="133388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220286B-2338-452B-860C-8247ED6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29377-3172-4060-BD31-63FDF64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LIOR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C67ECE-01ED-4DF7-A4F6-24F977F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4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A9B7F5-5051-4349-B0CB-A26251C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Frozen threshold? Move the data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3D1415-CC35-4B2F-8D0E-B1FDA48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Duplicating positives is the only recall lever we may pull.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EC9C00-07F4-4727-9C1B-9C94D2E3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Mean F1 vs positive-duplication ratio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0A7A61-52F2-40C3-A2F2-A0A68C0E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86400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Copies of each known positive in the final training set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D5BEBA0-D7C1-41DF-843E-87AD4535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86000"/>
            <a:ext cx="2889504" cy="14630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1367AA8-F433-48DC-82DB-89CE2557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505456"/>
            <a:ext cx="2651760" cy="656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B45309"/>
                </a:solidFill>
                <a:latin typeface="Cambria"/>
                <a:ea typeface="Cambria"/>
                <a:cs typeface="Cambria"/>
              </a:rPr>
              <a:t>+0.0178</a:t>
            </a:r>
            <a:endParaRPr sz="4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85870E3-A391-4913-BFDE-8124EA2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161792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1x → 2x — our biggest win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6DF72E3-EA4D-4758-905A-7C8136FD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877056"/>
            <a:ext cx="2889504" cy="155448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48B8DA-B36A-4B7F-8910-20CC0F2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114800"/>
            <a:ext cx="2651760" cy="656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7C8797"/>
                </a:solidFill>
                <a:latin typeface="Cambria"/>
                <a:ea typeface="Cambria"/>
                <a:cs typeface="Cambria"/>
              </a:rPr>
              <a:t>0.0006</a:t>
            </a:r>
            <a:endParaRPr sz="4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7BA84D7-0CC3-4F47-A70E-BB196DE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771136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2x vs 3x — the gap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6928758-A6E3-4389-9BDA-43D0F21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5084064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inside our ±0.005 noise floor</a:t>
            </a:r>
            <a:endParaRPr sz="14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4C88A03-3144-4ED2-881A-AF07D41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72216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9597422-6B27-4566-9616-4A1807D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60720"/>
            <a:ext cx="10396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Duplication matters. </a:t>
            </a: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The exact ratio in [2, 3] does not — that gap is noise.</a:t>
            </a:r>
            <a:endParaRPr sz="1800"/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48640" y="2286000"/>
          <a:ext xmlns:a="http://schemas.openxmlformats.org/drawingml/2006/main" cx="7863840" cy="33101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1f3dbf7033447f"/>
          </a:graphicData>
        </a:graphic>
      </p:graphicFrame>
    </p:spTree>
    <p:extLst>
      <p:ext uri="{BB962C8B-B14F-4D97-AF65-F5344CB8AC3E}">
        <p14:creationId xmlns:p14="http://schemas.microsoft.com/office/powerpoint/2010/main" val="322416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DA130E-936C-4A44-9B2F-62AB4EC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E0FC47-003A-4AEA-BB2E-015F1CD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RAZ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A853BF-6327-47DA-B126-95B13A1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5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E1791E-CE56-4839-BF4D-8EEF40A7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32 configurations. None survived.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E5AA9D-A0FB-480D-89F3-CA5F2556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Pre-declared bar: +0.005 — our measured noise floor.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0A8E75-5254-43FE-8BB7-FAAEC91B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Change in mean F1 vs our 0.6471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4504349-B30B-45A0-9B71-66BA6E6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286000"/>
            <a:ext cx="3438144" cy="2048256"/>
          </a:xfrm>
          <a:prstGeom xmlns:a="http://schemas.openxmlformats.org/drawingml/2006/main" prst="roundRect">
            <a:avLst>
              <a:gd name="adj" fmla="val 2232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7A812E2-BAF1-41D1-A1E0-CDCC4D31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46888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8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THE “WINNER” WE REJECTED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1E9E3B-125D-4678-BC0E-6BA97A7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816352"/>
            <a:ext cx="2926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22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+0.0010 — and it hurt seed 1.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65C5CB6-A1B2-45A8-A02B-FD5BE6E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584448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4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One-fifth of the noise floor. Adopting it fits our test set, not the problem.</a:t>
            </a:r>
            <a:endParaRPr sz="14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B4A6FB4-C710-4C84-AF65-1E5FEF3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80560"/>
            <a:ext cx="3438144" cy="1517904"/>
          </a:xfrm>
          <a:prstGeom xmlns:a="http://schemas.openxmlformats.org/drawingml/2006/main" prst="roundRect">
            <a:avLst>
              <a:gd name="adj" fmla="val 3012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F821D74-116D-4DC6-8BAE-78E1AB96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626864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8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THE SURPRISE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5D0EDE7-16A1-4C9D-9F77-7D51D339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93776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Query-by-committee ≡ probability.</a:t>
            </a:r>
            <a:endParaRPr sz="18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C603D83-BEE3-42BF-800B-BE50818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5541264"/>
            <a:ext cx="2926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 forest already is a committee.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05DC1C1-7FF9-4CA6-95C8-2261CFE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053328"/>
            <a:ext cx="7223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Ceiling: round-5 precision 44% ≈ the 33% base rate. Not our algorithm — the features.</a:t>
            </a:r>
            <a:endParaRPr sz="1300"/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1714500" y="2286000"/>
          <a:ext xmlns:a="http://schemas.openxmlformats.org/drawingml/2006/main" cx="6172200" cy="35661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e61a703b304bba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14035-A474-4066-B552-B9B3E583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Random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BF9A5-07D2-4FB0-9078-EE8ADE41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558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09CCC-A74A-4406-AEA8-8DADF5B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896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Cluster explore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81CAD-90C8-4AB3-AA96-5D3C0A14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234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F6766-C850-40F3-BC37-4684B6E1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572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Balanced scout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369FA-182E-4DAB-875B-E57084B5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10 x 500 rounds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69BC4-E4D1-4508-802D-6DF922D6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248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Hard-neg. weight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944AF-AC0C-4B37-B3CF-9DC88FCB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586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Graded batches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DD3E3-0B53-4DAE-8F18-39A8768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924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Tiered OS</a:t>
            </a:r>
          </a:p>
        </p:txBody>
      </p:sp>
    </p:spTree>
    <p:extLst>
      <p:ext uri="{BB962C8B-B14F-4D97-AF65-F5344CB8AC3E}">
        <p14:creationId xmlns:p14="http://schemas.microsoft.com/office/powerpoint/2010/main" val="1891193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EB3022-1BB8-46E9-8337-730BDDD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14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37589E-5971-41AE-8296-F14D23B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LIOR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2993662-1BC1-4828-A997-D3A3D21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6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10F214-43DB-4312-998C-90006C2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Result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5B5233-7ABE-434C-9CD6-49F1DB02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49377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0" b="1">
                <a:solidFill>
                  <a:srgbClr val="E3A140"/>
                </a:solidFill>
                <a:latin typeface="Cambria"/>
                <a:ea typeface="Cambria"/>
                <a:cs typeface="Cambria"/>
              </a:rPr>
              <a:t>0.6471</a:t>
            </a:r>
            <a:endParaRPr sz="8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070F4A-F410-4053-BF39-0179F6D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mean F1 (“Left”)  ·  seeds 1, 2, 3</a:t>
            </a:r>
            <a:endParaRPr sz="1800"/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658368" y="3346704"/>
          <a:ext xmlns:a="http://schemas.openxmlformats.org/drawingml/2006/main" cx="60350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14400"/>
                <a:gridCol w="1280160"/>
                <a:gridCol w="1463040"/>
                <a:gridCol w="1188720"/>
                <a:gridCol w="118872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Seed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Runtime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0.6381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0.573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0.720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19.3 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0.6491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0.725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31.3 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0.6539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0.592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0.730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34.5 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7F6495C-DE1D-4C8C-8EAD-1BC14E58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66944"/>
            <a:ext cx="6309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5,000 IDs used  ·  34.5 s worst case, cap 60 s  ·  0.55 line cleared by +0.097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D90F417-7F79-48B8-8222-5FE343B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71600"/>
            <a:ext cx="4581144" cy="4572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22304F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E4A7EF5-868E-4953-A038-500BDC6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00784"/>
            <a:ext cx="3977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10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WHAT WE’D TELL THE NEXT TEAM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3FE82E8-01B9-473E-BDE7-2FB5764B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12848"/>
            <a:ext cx="39776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the metric before</a:t>
            </a:r>
            <a:endParaRPr sz="24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writing the algorithm.</a:t>
            </a:r>
            <a:endParaRPr sz="2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362302C-4B08-4711-9987-0D2D20F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72384"/>
            <a:ext cx="3977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It rewrote the problem from “label the most informative points” to “find the most positives”.</a:t>
            </a:r>
            <a:endParaRPr sz="1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6F59FC2-4AA3-46D7-9FFF-A62A7F93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14800"/>
            <a:ext cx="3977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3A5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E9EDE10-647E-4FC9-9E77-6812A08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315968"/>
            <a:ext cx="39776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 your noise floor</a:t>
            </a:r>
            <a:endParaRPr sz="24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first.</a:t>
            </a:r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6A1D16A-29CE-4BF1-82B3-341CD27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75504"/>
            <a:ext cx="3977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Ours was ±0.005. Without it we’d have “improved” the model nine times.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318511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Walnut Exporter</lastModifiedBy>
  <dc:title>Presentation</dc:title>
  <dcterms:created xsi:type="dcterms:W3CDTF">2026-09-04T08:56:42.6190000Z</dcterms:created>
  <dcterms:modified xsi:type="dcterms:W3CDTF">2026-09-04T08:56:42.6190000Z</dcterms:modified>
</coreProperties>
</file>